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7389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81862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8115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0919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527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5085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29069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9451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7826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6092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172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417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27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78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508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и сегментация клиентов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13232" y="22402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Online Retail II / кластеризация покупателей по RFM-признакам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1047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42245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клиентов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после очистки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3749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0" y="42245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итоговых сегмента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3749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0" y="422452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лучший алгоритм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0" y="37490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0.804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326880" y="42245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Silhouette Score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CEB2CB-827C-A770-F46F-8484B486BB78}"/>
              </a:ext>
            </a:extLst>
          </p:cNvPr>
          <p:cNvSpPr txBox="1"/>
          <p:nvPr/>
        </p:nvSpPr>
        <p:spPr>
          <a:xfrm>
            <a:off x="610340" y="582462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Ласица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Анастасия 2024-ФГИиБ-ПИ-1б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11299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цель анализа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11480" y="1350383"/>
            <a:ext cx="10881360" cy="5568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Задача: выделить группы клиентов с похожим покупательским поведением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30775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59019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80987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строк в исходном датасете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71800" y="230775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971800" y="280987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столбцов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30775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3015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737125" y="280987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транзакций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30775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1 122 966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629400" y="280987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общий объем продаж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98280" y="230775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1191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9098280" y="280987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уникальный клиент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59"/>
            <a:ext cx="10424160" cy="2459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анные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содержат заказы, товары, даты покупок, цены, клиентов и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страны</a:t>
            </a:r>
            <a:endParaRPr lang="en-US" sz="20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егментация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помогает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перейти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массовой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рекламы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персональным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предложениям</a:t>
            </a:r>
            <a:endParaRPr lang="ru-RU" sz="20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снова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анализа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частота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покупок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давность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последнего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заказа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денежная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клиента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320040"/>
            <a:ext cx="11579589" cy="10293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Предобработка и признаки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55320" y="137755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После очистки рассчитаны клиентские признаки для кластеризации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39" y="1691908"/>
            <a:ext cx="6972967" cy="4598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Очистка: удалены пропуски, отмененные заказы, некорректные Quantity и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UnitPrice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ru-RU" sz="24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Выбросы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обработаны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значения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TotalPrice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методом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IQR.</a:t>
            </a:r>
            <a:endParaRPr lang="ru-RU" sz="2400" dirty="0"/>
          </a:p>
          <a:p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RFM-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признаки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Recency, Frequency, Monetary.</a:t>
            </a:r>
            <a:endParaRPr lang="ru-RU" sz="24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Дополнительно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AvgCheck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Quantity,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UniqueItems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Country.</a:t>
            </a:r>
            <a:endParaRPr lang="ru-RU" sz="24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признаков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зависящих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расстояний</a:t>
            </a: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955280" y="2290441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35745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955280" y="2765929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строк после очистки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0" y="3570601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1047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55280" y="4046089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клиентов в RFM-таблице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50206" y="4146937"/>
            <a:ext cx="3573781" cy="2537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Такой набор признаков показывает активность клиента, размер покупок и разнообразие приобретаемых товаров.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1"/>
            <a:ext cx="12192000" cy="7955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количества кластеров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1124271"/>
            <a:ext cx="12192000" cy="5149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Для K-Means использовались метод локтя и коэффициент силуэта</a:t>
            </a:r>
            <a:endParaRPr lang="en-US" sz="2000" dirty="0"/>
          </a:p>
        </p:txBody>
      </p:sp>
      <p:pic>
        <p:nvPicPr>
          <p:cNvPr id="4" name="Image 0" descr="/mnt/data/practice11_assets/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00908"/>
            <a:ext cx="5349240" cy="3829237"/>
          </a:xfrm>
          <a:prstGeom prst="rect">
            <a:avLst/>
          </a:prstGeom>
        </p:spPr>
      </p:pic>
      <p:pic>
        <p:nvPicPr>
          <p:cNvPr id="5" name="Image 1" descr="/mnt/data/practice11_assets/silhou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00908"/>
            <a:ext cx="5349240" cy="38573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5903650"/>
            <a:ext cx="10241280" cy="51490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По результатам подбора оптимальное количество кластеров принято равным 2.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87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алгоритмов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30352" y="1262007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Оценка качества кластеризации по внутренним метрикам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482571"/>
            <a:ext cx="8480482" cy="3808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KMeans: Silhouette 0.6727; Davies-Bouldin 0.9984;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Calinski-Harabasz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422.45</a:t>
            </a:r>
            <a:endParaRPr lang="ru-RU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ru-RU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Hierarchical: Silhouette 0.8040; Davies-Bouldin 0.8568;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Calinski-Harabasz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336.98</a:t>
            </a:r>
            <a:endParaRPr lang="ru-RU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ru-RU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DBSCAN: Silhouette 0.3389; Davies-Bouldin 0.7421;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Calinski-Harabasz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20.54</a:t>
            </a:r>
            <a:endParaRPr lang="ru-RU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ru-RU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OPTICS: Silhouette 0.4779; Davies-Bouldin 0.7089;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Calinski-Harabasz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310.95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279385" y="2298877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279385" y="2774365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выбран как лучший алгоритм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79385" y="3670477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0.8040</a:t>
            </a:r>
            <a:endParaRPr lang="en-US" sz="2700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279385" y="4145965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лучший Silhouette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5166804"/>
            <a:ext cx="10698480" cy="120558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ARI и NMI не использовались, потому что в датасете нет заранее известных правильных меток классов.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39"/>
            <a:ext cx="11155680" cy="73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 кластеров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30352" y="1056442"/>
            <a:ext cx="10881360" cy="3883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PCA показывает разделение клиентов в двумерном пространстве</a:t>
            </a:r>
            <a:endParaRPr lang="en-US" sz="2000" dirty="0"/>
          </a:p>
        </p:txBody>
      </p:sp>
      <p:pic>
        <p:nvPicPr>
          <p:cNvPr id="4" name="Image 0" descr="/mnt/data/practice11_assets/pca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65457"/>
            <a:ext cx="5806440" cy="46434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12280" y="1600199"/>
            <a:ext cx="4746446" cy="27676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масса клиентов образует крупный кластер. Небольшая группа клиентов заметно отличается по частоте покупок, сумме покупок и среднему чеку.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12280" y="4367817"/>
            <a:ext cx="4746446" cy="20684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0: массовый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регулярный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</a:t>
            </a:r>
            <a:endParaRPr lang="ru-RU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самые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ценные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лояльные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endParaRPr lang="ru-RU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различаются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RFM-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признакам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39"/>
            <a:ext cx="11155680" cy="9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Иерархическая структура клиентов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118586"/>
            <a:ext cx="10881360" cy="10931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rial" pitchFamily="34" charset="0"/>
                <a:ea typeface="Arial" pitchFamily="34" charset="-122"/>
                <a:cs typeface="Arial" pitchFamily="34" charset="-120"/>
              </a:rPr>
              <a:t>Дендрограмма подтверждает наличие разных групп клиентов</a:t>
            </a:r>
            <a:endParaRPr lang="en-US" sz="2800" dirty="0"/>
          </a:p>
        </p:txBody>
      </p:sp>
      <p:pic>
        <p:nvPicPr>
          <p:cNvPr id="4" name="Image 0" descr="/mnt/data/practice11_assets/dendr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8399"/>
            <a:ext cx="7315200" cy="32756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39" y="2568399"/>
            <a:ext cx="3337560" cy="20046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Иерархическая кластеризация стала лучшей моделью по Silhouette Score. Она хорошо подходит для интерпретации сегментов, потому что показывает близость групп клиентов.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321040" y="4573065"/>
            <a:ext cx="3337560" cy="15835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Для построения дендрограммы использовалась выборка клиентов, чтобы график оставался читаемым.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9799"/>
            <a:ext cx="11155680" cy="1313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 сегментов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30352" y="1313895"/>
            <a:ext cx="10881360" cy="636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Средние значения признаков показывают различия между группами</a:t>
            </a:r>
            <a:endParaRPr lang="en-US" sz="2000" dirty="0"/>
          </a:p>
        </p:txBody>
      </p:sp>
      <p:pic>
        <p:nvPicPr>
          <p:cNvPr id="4" name="Image 0" descr="/mnt/data/practice11_assets/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87890"/>
            <a:ext cx="5212080" cy="27911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63639" y="2219417"/>
            <a:ext cx="5028757" cy="41281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 0 </a:t>
            </a:r>
            <a:r>
              <a:rPr lang="ru-RU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Регулярные покупатели: 1033 клиента, Monetary 368.33,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AvgCheck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249.44.</a:t>
            </a:r>
            <a:endParaRPr lang="ru-RU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/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</a:t>
            </a:r>
            <a:r>
              <a:rPr lang="ru-RU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Лояльные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14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клиентов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Monetary 3869.21,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AvgCheck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788.60.</a:t>
            </a:r>
            <a:endParaRPr lang="ru-RU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размеру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намного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ценнее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выручке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страна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клиентов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обоих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сегментах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United Kingdom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массовый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роста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частоты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покупок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среднего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чека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8677"/>
            <a:ext cx="11155680" cy="946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Различия по ключевым признакам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30352" y="1038693"/>
            <a:ext cx="10881360" cy="3756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Боксплоты показывают поведенческие отличия сегментов</a:t>
            </a:r>
            <a:endParaRPr lang="en-US" sz="2000" dirty="0"/>
          </a:p>
        </p:txBody>
      </p:sp>
      <p:pic>
        <p:nvPicPr>
          <p:cNvPr id="4" name="Image 0" descr="/mnt/data/practice11_assets/box_rec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345" y="1574459"/>
            <a:ext cx="3688951" cy="2011680"/>
          </a:xfrm>
          <a:prstGeom prst="rect">
            <a:avLst/>
          </a:prstGeom>
        </p:spPr>
      </p:pic>
      <p:pic>
        <p:nvPicPr>
          <p:cNvPr id="5" name="Image 1" descr="/mnt/data/practice11_assets/box_frequ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905" y="1574459"/>
            <a:ext cx="3688951" cy="2011680"/>
          </a:xfrm>
          <a:prstGeom prst="rect">
            <a:avLst/>
          </a:prstGeom>
        </p:spPr>
      </p:pic>
      <p:pic>
        <p:nvPicPr>
          <p:cNvPr id="6" name="Image 2" descr="/mnt/data/practice11_assets/box_monet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805" y="4121905"/>
            <a:ext cx="3830030" cy="2011680"/>
          </a:xfrm>
          <a:prstGeom prst="rect">
            <a:avLst/>
          </a:prstGeom>
        </p:spPr>
      </p:pic>
      <p:pic>
        <p:nvPicPr>
          <p:cNvPr id="7" name="Image 3" descr="/mnt/data/practice11_assets/box_avg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878" y="4121905"/>
            <a:ext cx="3783003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922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 и итог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94360" y="1098656"/>
            <a:ext cx="10881360" cy="4368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Сегментация помогает настроить разные действия для разных клиентов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766656"/>
            <a:ext cx="10789920" cy="275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лояльные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клиенты: VIP-программа, персональные скидки, бонусы за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повторные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покупки</a:t>
            </a:r>
            <a:endParaRPr lang="ru-RU" sz="22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покупатели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кросс-продажи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подборки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товаров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скидки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суммы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заказа</a:t>
            </a:r>
            <a:endParaRPr lang="ru-RU" sz="22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сниженной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активностью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реактивационные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письма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промокоды</a:t>
            </a:r>
            <a:endParaRPr lang="ru-RU" sz="22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приветственные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предложения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популярных</a:t>
            </a:r>
            <a:r>
              <a:rPr lang="en-US" sz="2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товаров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4663439"/>
            <a:ext cx="10698480" cy="134674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работа показывает, как на основе покупательского поведения можно разделить клиентов на понятные группы и использовать результат для более точного маркетинга, роста среднего чека и удержания ценных клиентов.</a:t>
            </a:r>
            <a:endParaRPr lang="en-US" sz="2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54</TotalTime>
  <Words>541</Words>
  <Application>Microsoft Office PowerPoint</Application>
  <PresentationFormat>Широкоэкранный</PresentationFormat>
  <Paragraphs>92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Cambria</vt:lpstr>
      <vt:lpstr>Rockwell</vt:lpstr>
      <vt:lpstr>Rockwell Condensed</vt:lpstr>
      <vt:lpstr>Wingdings</vt:lpstr>
      <vt:lpstr>Дерево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Учебная работа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и сегментация клиентов</dc:title>
  <dc:subject>Сегментация клиентов</dc:subject>
  <dc:creator>Valeria</dc:creator>
  <cp:lastModifiedBy>nastya runessaa</cp:lastModifiedBy>
  <cp:revision>22</cp:revision>
  <dcterms:created xsi:type="dcterms:W3CDTF">2026-05-25T22:33:08Z</dcterms:created>
  <dcterms:modified xsi:type="dcterms:W3CDTF">2026-05-26T06:52:48Z</dcterms:modified>
</cp:coreProperties>
</file>